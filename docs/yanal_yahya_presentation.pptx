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62" r:id="rId10"/>
    <p:sldId id="270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embeddedFontLst>
    <p:embeddedFont>
      <p:font typeface="Noto Sans SC" panose="020B0200000000000000" pitchFamily="34" charset="-128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F9A53D-C8E2-47DD-9842-43F49D632BF1}">
  <a:tblStyle styleId="{C2F9A53D-C8E2-47DD-9842-43F49D632B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73333"/>
  </p:normalViewPr>
  <p:slideViewPr>
    <p:cSldViewPr snapToGrid="0">
      <p:cViewPr varScale="1">
        <p:scale>
          <a:sx n="92" d="100"/>
          <a:sy n="92" d="100"/>
        </p:scale>
        <p:origin x="1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8" name="Google Shape;1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dccd2237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f8dccd2237_1_5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Google Shape;193;g3f8dccd2237_1_5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Google Shape;20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dccd2237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f8dccd2237_1_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Google Shape;215;g3f8dccd2237_1_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dccd2237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f8dccd2237_1_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Google Shape;226;g3f8dccd2237_1_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dccd2237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3f8dccd2237_1_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Google Shape;238;g3f8dccd2237_1_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dccd2237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f8dccd2237_1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9" name="Google Shape;249;g3f8dccd2237_1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dccd2237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f8dccd2237_1_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Google Shape;260;g3f8dccd2237_1_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dccd2237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f8dccd2237_1_4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1" name="Google Shape;271;g3f8dccd2237_1_4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dccd2237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f8dccd2237_1_10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2" name="Google Shape;282;g3f8dccd2237_1_10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8dccd2237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8dccd2237_1_1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3" name="Google Shape;293;g3f8dccd2237_1_1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Google Shape;304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859" y="962174"/>
            <a:ext cx="886500" cy="88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>
            <a:off x="6090212" y="985336"/>
            <a:ext cx="0" cy="8400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" name="Google Shape;14;p2"/>
          <p:cNvCxnSpPr/>
          <p:nvPr/>
        </p:nvCxnSpPr>
        <p:spPr>
          <a:xfrm>
            <a:off x="8642581" y="985336"/>
            <a:ext cx="0" cy="8400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" name="Google Shape;15;p2"/>
          <p:cNvCxnSpPr/>
          <p:nvPr/>
        </p:nvCxnSpPr>
        <p:spPr>
          <a:xfrm>
            <a:off x="11179047" y="985336"/>
            <a:ext cx="0" cy="8400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027967" y="2404671"/>
            <a:ext cx="7634000" cy="1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42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800" cy="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4"/>
          </p:nvPr>
        </p:nvSpPr>
        <p:spPr>
          <a:xfrm>
            <a:off x="1027967" y="4824915"/>
            <a:ext cx="76252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5" name="Google Shape;25;p3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6" name="Google Shape;26;p3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4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" name="Google Shape;34;p4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5" name="Google Shape;35;p4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6" name="Google Shape;36;p4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585897" y="1447791"/>
            <a:ext cx="11058000" cy="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3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5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6" name="Google Shape;46;p5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" name="Google Shape;47;p5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8" name="Google Shape;48;p5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" name="Google Shape;50;p5"/>
          <p:cNvSpPr>
            <a:spLocks noGrp="1"/>
          </p:cNvSpPr>
          <p:nvPr>
            <p:ph type="pic" idx="2"/>
          </p:nvPr>
        </p:nvSpPr>
        <p:spPr>
          <a:xfrm>
            <a:off x="6684653" y="1447789"/>
            <a:ext cx="4325200" cy="43252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585899" y="1447791"/>
            <a:ext cx="5245600" cy="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5245600" cy="33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4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6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9" name="Google Shape;59;p6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" name="Google Shape;60;p6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1" name="Google Shape;61;p6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6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3"/>
          </p:nvPr>
        </p:nvSpPr>
        <p:spPr>
          <a:xfrm>
            <a:off x="585899" y="2379663"/>
            <a:ext cx="4322400" cy="23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400" cy="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5"/>
          </p:nvPr>
        </p:nvSpPr>
        <p:spPr>
          <a:xfrm>
            <a:off x="6259892" y="2379663"/>
            <a:ext cx="5384000" cy="3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24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585897" y="1447791"/>
            <a:ext cx="11058000" cy="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7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5" name="Google Shape;75;p7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7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585899" y="1447791"/>
            <a:ext cx="4322400" cy="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body" idx="4"/>
          </p:nvPr>
        </p:nvSpPr>
        <p:spPr>
          <a:xfrm>
            <a:off x="585899" y="2379663"/>
            <a:ext cx="4322400" cy="23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body" idx="5"/>
          </p:nvPr>
        </p:nvSpPr>
        <p:spPr>
          <a:xfrm>
            <a:off x="585897" y="5183249"/>
            <a:ext cx="3934400" cy="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chart" idx="6"/>
          </p:nvPr>
        </p:nvSpPr>
        <p:spPr>
          <a:xfrm>
            <a:off x="5272097" y="1447789"/>
            <a:ext cx="6371600" cy="42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8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7" name="Google Shape;87;p8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8" name="Google Shape;88;p8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9" name="Google Shape;89;p8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1" name="Google Shape;91;p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400" cy="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8"/>
          <p:cNvSpPr>
            <a:spLocks noGrp="1"/>
          </p:cNvSpPr>
          <p:nvPr>
            <p:ph type="chart" idx="5"/>
          </p:nvPr>
        </p:nvSpPr>
        <p:spPr>
          <a:xfrm>
            <a:off x="5272097" y="1447789"/>
            <a:ext cx="6371600" cy="42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body" idx="6"/>
          </p:nvPr>
        </p:nvSpPr>
        <p:spPr>
          <a:xfrm>
            <a:off x="585788" y="1447064"/>
            <a:ext cx="43228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8"/>
          <p:cNvSpPr txBox="1">
            <a:spLocks noGrp="1"/>
          </p:cNvSpPr>
          <p:nvPr>
            <p:ph type="body" idx="7"/>
          </p:nvPr>
        </p:nvSpPr>
        <p:spPr>
          <a:xfrm>
            <a:off x="585899" y="2379663"/>
            <a:ext cx="4322400" cy="23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9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2" name="Google Shape;102;p9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3" name="Google Shape;103;p9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" name="Google Shape;105;p9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title"/>
          </p:nvPr>
        </p:nvSpPr>
        <p:spPr>
          <a:xfrm>
            <a:off x="585897" y="1447791"/>
            <a:ext cx="11058000" cy="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4"/>
          </p:nvPr>
        </p:nvSpPr>
        <p:spPr>
          <a:xfrm>
            <a:off x="575076" y="4103995"/>
            <a:ext cx="27580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5"/>
          </p:nvPr>
        </p:nvSpPr>
        <p:spPr>
          <a:xfrm>
            <a:off x="4047007" y="4103995"/>
            <a:ext cx="27576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6"/>
          </p:nvPr>
        </p:nvSpPr>
        <p:spPr>
          <a:xfrm>
            <a:off x="7518939" y="4103995"/>
            <a:ext cx="27576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body" idx="7"/>
          </p:nvPr>
        </p:nvSpPr>
        <p:spPr>
          <a:xfrm>
            <a:off x="575076" y="2710235"/>
            <a:ext cx="2758000" cy="1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8"/>
          </p:nvPr>
        </p:nvSpPr>
        <p:spPr>
          <a:xfrm>
            <a:off x="4047007" y="2710235"/>
            <a:ext cx="2758000" cy="1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9"/>
          </p:nvPr>
        </p:nvSpPr>
        <p:spPr>
          <a:xfrm>
            <a:off x="7518939" y="2710235"/>
            <a:ext cx="2758000" cy="1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0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8" name="Google Shape;118;p10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9" name="Google Shape;119;p10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0" name="Google Shape;120;p10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0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2" name="Google Shape;122;p1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0"/>
          <p:cNvSpPr txBox="1">
            <a:spLocks noGrp="1"/>
          </p:cNvSpPr>
          <p:nvPr>
            <p:ph type="body" idx="4"/>
          </p:nvPr>
        </p:nvSpPr>
        <p:spPr>
          <a:xfrm>
            <a:off x="585787" y="1447065"/>
            <a:ext cx="11058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0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1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1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" name="Google Shape;131;p11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2" name="Google Shape;132;p11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1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1"/>
          <p:cNvSpPr txBox="1">
            <a:spLocks noGrp="1"/>
          </p:cNvSpPr>
          <p:nvPr>
            <p:ph type="body" idx="4"/>
          </p:nvPr>
        </p:nvSpPr>
        <p:spPr>
          <a:xfrm>
            <a:off x="585787" y="1447064"/>
            <a:ext cx="76180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21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body" idx="6"/>
          </p:nvPr>
        </p:nvSpPr>
        <p:spPr>
          <a:xfrm>
            <a:off x="8686807" y="2208363"/>
            <a:ext cx="2930800" cy="2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810" y="2643810"/>
            <a:ext cx="1570381" cy="1570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3"/>
          <p:cNvCxnSpPr/>
          <p:nvPr/>
        </p:nvCxnSpPr>
        <p:spPr>
          <a:xfrm>
            <a:off x="3298687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6" name="Google Shape;146;p13"/>
          <p:cNvCxnSpPr/>
          <p:nvPr/>
        </p:nvCxnSpPr>
        <p:spPr>
          <a:xfrm>
            <a:off x="6099416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7" name="Google Shape;147;p13"/>
          <p:cNvCxnSpPr/>
          <p:nvPr/>
        </p:nvCxnSpPr>
        <p:spPr>
          <a:xfrm>
            <a:off x="10277081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8" name="Google Shape;148;p13"/>
          <p:cNvSpPr txBox="1"/>
          <p:nvPr/>
        </p:nvSpPr>
        <p:spPr>
          <a:xfrm>
            <a:off x="10410201" y="532280"/>
            <a:ext cx="6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000"/>
              <a:buFont typeface="Arial"/>
              <a:buNone/>
            </a:pPr>
            <a:fld id="{00000000-1234-1234-1234-123412341234}" type="slidenum">
              <a:rPr lang="en-US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13"/>
          <p:cNvCxnSpPr/>
          <p:nvPr/>
        </p:nvCxnSpPr>
        <p:spPr>
          <a:xfrm>
            <a:off x="11643868" y="464363"/>
            <a:ext cx="0" cy="5864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2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1067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/>
          </p:nvPr>
        </p:nvSpPr>
        <p:spPr>
          <a:xfrm>
            <a:off x="585899" y="1447791"/>
            <a:ext cx="4322400" cy="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body" idx="4"/>
          </p:nvPr>
        </p:nvSpPr>
        <p:spPr>
          <a:xfrm>
            <a:off x="585899" y="2379663"/>
            <a:ext cx="4322400" cy="23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333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5392983" y="1447791"/>
            <a:ext cx="830800" cy="830800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6742925" y="1447791"/>
            <a:ext cx="830800" cy="830800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8092868" y="1447791"/>
            <a:ext cx="830800" cy="830800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9442811" y="1447791"/>
            <a:ext cx="830800" cy="830800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792755" y="1447791"/>
            <a:ext cx="830800" cy="830800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5392983" y="2708699"/>
            <a:ext cx="830800" cy="830800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6742925" y="2708699"/>
            <a:ext cx="830800" cy="830800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8092868" y="2708699"/>
            <a:ext cx="830800" cy="830800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9442811" y="2708699"/>
            <a:ext cx="830800" cy="830800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10792755" y="2708699"/>
            <a:ext cx="830800" cy="830800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5392983" y="3969609"/>
            <a:ext cx="830800" cy="830800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6742925" y="3969609"/>
            <a:ext cx="830800" cy="830800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8092868" y="3969609"/>
            <a:ext cx="830800" cy="830800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9442811" y="3969609"/>
            <a:ext cx="830800" cy="830800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0792755" y="3969609"/>
            <a:ext cx="830800" cy="830800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392983" y="5249769"/>
            <a:ext cx="830800" cy="830800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6742925" y="5249769"/>
            <a:ext cx="830800" cy="830800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8092868" y="5249769"/>
            <a:ext cx="830800" cy="830800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9442811" y="5249769"/>
            <a:ext cx="830800" cy="830800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10792755" y="5249769"/>
            <a:ext cx="830800" cy="830800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C9F"/>
              </a:buClr>
              <a:buSzPts val="11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C9F"/>
              </a:buClr>
              <a:buSzPts val="11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Clr>
                <a:srgbClr val="888C9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rm.yanalyahya.com/api/docs" TargetMode="External"/><Relationship Id="rId5" Type="http://schemas.openxmlformats.org/officeDocument/2006/relationships/hyperlink" Target="https://dorm.yanalyahya.com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igur.com/features/visitor_management" TargetMode="External"/><Relationship Id="rId13" Type="http://schemas.openxmlformats.org/officeDocument/2006/relationships/hyperlink" Target="https://doi.org/10.1109/iccebs58601.2023.10449199" TargetMode="External"/><Relationship Id="rId3" Type="http://schemas.openxmlformats.org/officeDocument/2006/relationships/image" Target="../media/image3.jpg"/><Relationship Id="rId7" Type="http://schemas.openxmlformats.org/officeDocument/2006/relationships/hyperlink" Target="https://tandemservice.ru" TargetMode="External"/><Relationship Id="rId12" Type="http://schemas.openxmlformats.org/officeDocument/2006/relationships/hyperlink" Target="https://docs.djangoproject.com/en/5.2/topics/auth/default" TargetMode="External"/><Relationship Id="rId2" Type="http://schemas.openxmlformats.org/officeDocument/2006/relationships/notesSlide" Target="../notesSlides/notesSlide14.xml"/><Relationship Id="rId16" Type="http://schemas.openxmlformats.org/officeDocument/2006/relationships/hyperlink" Target="https://doi.org/10.1145/3724154.372418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olutions.1c.ru/catalog/university-prof/features" TargetMode="External"/><Relationship Id="rId11" Type="http://schemas.openxmlformats.org/officeDocument/2006/relationships/hyperlink" Target="https://laravel.com/docs/13.x/authorization" TargetMode="External"/><Relationship Id="rId5" Type="http://schemas.openxmlformats.org/officeDocument/2006/relationships/hyperlink" Target="https://hse.ru/docs/1189956784.html" TargetMode="External"/><Relationship Id="rId15" Type="http://schemas.openxmlformats.org/officeDocument/2006/relationships/hyperlink" Target="https://doi.org/10.18196/eist.v2i2.16863" TargetMode="External"/><Relationship Id="rId10" Type="http://schemas.openxmlformats.org/officeDocument/2006/relationships/hyperlink" Target="https://reslifeportal.com/features/visitors" TargetMode="External"/><Relationship Id="rId4" Type="http://schemas.openxmlformats.org/officeDocument/2006/relationships/hyperlink" Target="https://hse.ru/mirror/pubs/share/1196008207.pdf" TargetMode="External"/><Relationship Id="rId9" Type="http://schemas.openxmlformats.org/officeDocument/2006/relationships/hyperlink" Target="https://starrez.com/features/front-desk" TargetMode="External"/><Relationship Id="rId14" Type="http://schemas.openxmlformats.org/officeDocument/2006/relationships/hyperlink" Target="https://doi.org/10.1109/icerect56837.2022.1005990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rm.yanalyahya.com" TargetMode="External"/><Relationship Id="rId5" Type="http://schemas.openxmlformats.org/officeDocument/2006/relationships/hyperlink" Target="https://git.cs.hse.ru/edu/sse/2025_26/term-papers/Yanal-Yahya-yyahya" TargetMode="External"/><Relationship Id="rId4" Type="http://schemas.openxmlformats.org/officeDocument/2006/relationships/hyperlink" Target="https://github.com/yyahya-2000/DormHu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>
            <a:spLocks noGrp="1"/>
          </p:cNvSpPr>
          <p:nvPr>
            <p:ph type="title"/>
          </p:nvPr>
        </p:nvSpPr>
        <p:spPr>
          <a:xfrm>
            <a:off x="1027967" y="2029369"/>
            <a:ext cx="9194556" cy="1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</a:pPr>
            <a:r>
              <a:rPr lang="en-US" sz="3200" b="1"/>
              <a:t>System for Supporting </a:t>
            </a:r>
            <a:br>
              <a:rPr lang="en-US" sz="3200" b="1"/>
            </a:br>
            <a:r>
              <a:rPr lang="en-US" sz="3200" b="1"/>
              <a:t>Student Activities </a:t>
            </a:r>
            <a:br>
              <a:rPr lang="en-US" sz="3200" b="1"/>
            </a:br>
            <a:r>
              <a:rPr lang="en-US" sz="3200" b="1"/>
              <a:t>in Dormitories</a:t>
            </a:r>
            <a:br>
              <a:rPr lang="en-US" sz="3600"/>
            </a:br>
            <a:br>
              <a:rPr lang="en-US" sz="3600"/>
            </a:br>
            <a:endParaRPr sz="3600"/>
          </a:p>
        </p:txBody>
      </p:sp>
      <p:sp>
        <p:nvSpPr>
          <p:cNvPr id="181" name="Google Shape;181;p15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800" cy="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800" dirty="0">
                <a:solidFill>
                  <a:srgbClr val="0F2C68"/>
                </a:solidFill>
              </a:rPr>
              <a:t>Course Work</a:t>
            </a:r>
            <a:endParaRPr b="0" dirty="0"/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br>
              <a:rPr lang="en-US" b="0" dirty="0"/>
            </a:br>
            <a:endParaRPr dirty="0"/>
          </a:p>
        </p:txBody>
      </p:sp>
      <p:sp>
        <p:nvSpPr>
          <p:cNvPr id="182" name="Google Shape;182;p15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ru-RU" sz="1800" dirty="0"/>
              <a:t>05</a:t>
            </a:r>
            <a:r>
              <a:rPr lang="en-US" sz="1800" b="0" i="0" u="none" strike="noStrike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1800" b="0" i="0" u="none" strike="noStrike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.2026</a:t>
            </a:r>
            <a:endParaRPr b="0" dirty="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endParaRPr dirty="0"/>
          </a:p>
        </p:txBody>
      </p:sp>
      <p:sp>
        <p:nvSpPr>
          <p:cNvPr id="183" name="Google Shape;183;p15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en-US" sz="1800" b="0" i="0" u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МСПИН251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951347" y="3872070"/>
            <a:ext cx="6096000" cy="726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Система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поддержки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студенческой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деятельности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общежитиях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27967" y="480646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E3A5F"/>
                </a:solidFill>
              </a:rPr>
              <a:t>Author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027967" y="511126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748"/>
                </a:solidFill>
              </a:rPr>
              <a:t>Yanal Yahya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027967" y="533986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748"/>
                </a:solidFill>
              </a:rPr>
              <a:t>Group</a:t>
            </a:r>
            <a:r>
              <a:rPr lang="en-US" sz="1200" b="0" i="0" u="none" strike="noStrike" cap="non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МСПИН251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6895367" y="480646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E3A5F"/>
                </a:solidFill>
              </a:rPr>
              <a:t>Supervisor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895367" y="5111269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748"/>
                </a:solidFill>
              </a:rPr>
              <a:t>Hadi Saleh</a:t>
            </a:r>
            <a:endParaRPr sz="1200">
              <a:solidFill>
                <a:srgbClr val="2D374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 Statement and Goal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197" name="Google Shape;197;p16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 dirty="0">
                <a:solidFill>
                  <a:srgbClr val="0F2C68"/>
                </a:solidFill>
              </a:rPr>
              <a:t>Course Work</a:t>
            </a:r>
            <a:endParaRPr sz="1200" dirty="0">
              <a:solidFill>
                <a:srgbClr val="FF0000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 dirty="0"/>
          </a:p>
        </p:txBody>
      </p:sp>
      <p:sp>
        <p:nvSpPr>
          <p:cNvPr id="198" name="Google Shape;198;p16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448056" y="1783080"/>
            <a:ext cx="1106424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The everyday work of a dormitory still runs on paper.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For every visit the security officer writes six fields by hand — the guest, the host, the room, the document, the time in and the time out. A guest may be inside from 8:00 to 23:00.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/>
            </a:br>
            <a:r>
              <a:rPr lang="en-US" sz="1700"/>
              <a:t>Maintenance, announcements and lost items are handled the same way: by chat, by paper, by knocking on the warden's door.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/>
            </a:br>
            <a:r>
              <a:rPr lang="en-US" sz="1700" b="1"/>
              <a:t>Problem</a:t>
            </a:r>
            <a:br>
              <a:rPr lang="en-US" sz="1700"/>
            </a:br>
            <a:r>
              <a:rPr lang="en-US" sz="1700"/>
              <a:t>No integrated system supports these four everyday processes with the roles of resident, dormitory head, dormitory manager, security and administrator kept apart.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/>
            </a:br>
            <a:r>
              <a:rPr lang="en-US" sz="1700" b="1"/>
              <a:t>Goal</a:t>
            </a:r>
            <a:br>
              <a:rPr lang="en-US" sz="1700"/>
            </a:br>
            <a:r>
              <a:rPr lang="en-US" sz="1700"/>
              <a:t>Design and build an MVP web system that digitises the everyday administrative activity of a student dormitory and supports the roles involved in it.</a:t>
            </a:r>
            <a:endParaRPr sz="17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Object, Subject, Approach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197" name="Google Shape;197;p16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 dirty="0">
                <a:solidFill>
                  <a:srgbClr val="0F2C68"/>
                </a:solidFill>
              </a:rPr>
              <a:t>Course Work</a:t>
            </a:r>
            <a:endParaRPr sz="1200" dirty="0">
              <a:solidFill>
                <a:srgbClr val="FF0000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 dirty="0"/>
          </a:p>
        </p:txBody>
      </p:sp>
      <p:sp>
        <p:nvSpPr>
          <p:cNvPr id="198" name="Google Shape;198;p16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448056" y="1783080"/>
            <a:ext cx="55778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Object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/>
              <a:t>The everyday administrative work of a student dormitory: guest visits, announcements, repair requests, lost property.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900" b="1"/>
              <a:t>Subject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/>
              <a:t>How a student deals with the dormitory in four tasks — guests, repairs, announcements, lost items — and how a web system can support it.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900" b="1"/>
              <a:t>Approach</a:t>
            </a: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-US" sz="1700"/>
              <a:t>Learn the procedure: rules of 12 universities, survey of 26 residents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700"/>
              <a:t>Build the system around the student’s tasks; staff screens follow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700"/>
              <a:t>Check every requirement with a test</a:t>
            </a:r>
          </a:p>
        </p:txBody>
      </p:sp>
      <p:sp>
        <p:nvSpPr>
          <p:cNvPr id="901" name="Google Shape;901;added"/>
          <p:cNvSpPr txBox="1"/>
          <p:nvPr/>
        </p:nvSpPr>
        <p:spPr>
          <a:xfrm>
            <a:off x="6355080" y="1783080"/>
            <a:ext cx="5440680" cy="239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/>
              <a:t>Questions the work answers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 dirty="0"/>
              <a:t>1. Is the guest procedure the same in every university?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/>
              <a:t>2. What do HSE residents need most — guests, as the dormitory rules suggest?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/>
              <a:t>3. Which of the four tasks do existing systems already cover?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381000" y="1225950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State of the Domain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8962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08" name="Google Shape;208;p17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47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09" name="Google Shape;209;p17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62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448056" y="1874520"/>
            <a:ext cx="1060704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 dormitory is home to hundreds of students and is run by a small staff.</a:t>
            </a:r>
          </a:p>
          <a:p>
            <a:pPr marL="0" lvl="0" indent="0" algn="l" rtl="0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000"/>
              <a:t>A student meets the dormitory in four everyday tasks: inviting a guest, reporting a repair, reading announcements, finding a lost item.</a:t>
            </a:r>
          </a:p>
          <a:p>
            <a:pPr marL="0" lvl="0" indent="0" algn="l" rtl="0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000"/>
              <a:t>Five roles take part, and their rights differ: the resident, the dormitory head, the manager, security at the desk, and the administrator.</a:t>
            </a:r>
          </a:p>
          <a:p>
            <a:pPr marL="0" lvl="0" indent="0" algn="l" rtl="0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000"/>
              <a:t>Today the tools are a paper journal at the desk, a notice board in the corridor, and chats with the staff.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Existing Solutions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19" name="Google Shape;219;p18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20" name="Google Shape;220;p1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18"/>
          <p:cNvGraphicFramePr/>
          <p:nvPr/>
        </p:nvGraphicFramePr>
        <p:xfrm>
          <a:off x="1066648" y="1874520"/>
          <a:ext cx="10058400" cy="3246535"/>
        </p:xfrm>
        <a:graphic>
          <a:graphicData uri="http://schemas.openxmlformats.org/drawingml/2006/table">
            <a:tbl>
              <a:tblPr>
                <a:noFill/>
                <a:tableStyleId>{C2F9A53D-C8E2-47DD-9842-43F49D632BF1}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System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Residents and rooms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Guest visits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Announcements, maintenance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Lost property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1C:University PROF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+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TANDEM.University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+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Sigur, access control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+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StarRez Front Desk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+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+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±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ResLife Portal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±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+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±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51" name="Google Shape;951;v3"/>
          <p:cNvSpPr txBox="1"/>
          <p:nvPr/>
        </p:nvSpPr>
        <p:spPr>
          <a:xfrm>
            <a:off x="975208" y="553212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No system covers all four tasks. Lost property — nowhere.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Related Work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197" name="Google Shape;197;p16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198" name="Google Shape;198;p16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448056" y="1783080"/>
            <a:ext cx="6172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Research papers on dormitory systems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1700" b="1"/>
              <a:t>SharmikhaSree et al., 2023 [10]</a:t>
            </a:r>
            <a:r>
              <a:rPr lang="en-US" sz="1700"/>
              <a:t> — student records, repair requests, parcels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US" sz="1700" b="1"/>
              <a:t>Yang, Chen, 2022 [11]</a:t>
            </a:r>
            <a:r>
              <a:rPr lang="en-US" sz="1700"/>
              <a:t> — architecture of a university-wide dormitory system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US" sz="1700" b="1"/>
              <a:t>Kasastra et al., 2023 [12]</a:t>
            </a:r>
            <a:r>
              <a:rPr lang="en-US" sz="1700"/>
              <a:t> — dormitory system joined to the campus system; the closest to this work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US" sz="1700" b="1"/>
              <a:t>Zhao, Wang, 2024 [13]</a:t>
            </a:r>
            <a:r>
              <a:rPr lang="en-US" sz="1700"/>
              <a:t> — dormitory safety; the only paper where the visitor appears, and only as access control</a:t>
            </a:r>
          </a:p>
        </p:txBody>
      </p:sp>
      <p:sp>
        <p:nvSpPr>
          <p:cNvPr id="902" name="Google Shape;902;added"/>
          <p:cNvSpPr txBox="1"/>
          <p:nvPr/>
        </p:nvSpPr>
        <p:spPr>
          <a:xfrm>
            <a:off x="6903720" y="178308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What they have in common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 sz="1700"/>
              <a:t>All four manage housing: rooms, residents, repairs.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US" sz="1700"/>
              <a:t>None has a guest request approved by staff.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US" sz="1700"/>
              <a:t>None has lost property.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/>
              <a:t>The same gap as in the products.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Relevance of the Work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30" name="Google Shape;230;p19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448056" y="1783080"/>
            <a:ext cx="608076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 survey of HSE residents, 13–14 September 2026, 26 answers.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19</a:t>
            </a:r>
            <a:r>
              <a:rPr lang="en-US" sz="1600"/>
              <a:t> of 26 had missed an announcement that mattered, six of them regularly.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1"/>
              <a:t>12</a:t>
            </a:r>
            <a:r>
              <a:rPr lang="en-US" sz="1600"/>
              <a:t> of 26 had lost something in the building. </a:t>
            </a:r>
            <a:r>
              <a:rPr lang="en-US" sz="1600" b="1"/>
              <a:t>One</a:t>
            </a:r>
            <a:r>
              <a:rPr lang="en-US" sz="1600"/>
              <a:t> of the twelve got it back.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1"/>
              <a:t>19</a:t>
            </a:r>
            <a:r>
              <a:rPr lang="en-US" sz="1600"/>
              <a:t> of 26 had invited a guest in the past year; </a:t>
            </a:r>
            <a:r>
              <a:rPr lang="en-US" sz="1600" b="1"/>
              <a:t>3</a:t>
            </a:r>
            <a:r>
              <a:rPr lang="en-US" sz="1600"/>
              <a:t> gave up because of the procedure.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1"/>
              <a:t>25</a:t>
            </a:r>
            <a:r>
              <a:rPr lang="en-US" sz="1600"/>
              <a:t> of 26 would use such an app: 12 yes, 13 rather yes.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/>
              <a:t>Across Russian universities [1]: online libraries reach 97.8 % of students, electronic document management — 34.7 %, last of nine kinds of software.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Teaching has been digitised. The administration around it has not.</a:t>
            </a:r>
          </a:p>
        </p:txBody>
      </p:sp>
      <p:pic>
        <p:nvPicPr>
          <p:cNvPr id="234" name="Google Shape;234;p19" descr="Forms response chart. Question title: 12. Стали бы вы пользоваться таким приложением?. Number of responses: 26 responses." title="12. Стали бы вы пользоваться таким приложением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400" y="2011680"/>
            <a:ext cx="525780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v3"/>
          <p:cNvSpPr txBox="1"/>
          <p:nvPr/>
        </p:nvSpPr>
        <p:spPr>
          <a:xfrm>
            <a:off x="6629400" y="471373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4A5568"/>
                </a:solidFill>
              </a:rPr>
              <a:t>Survey question 12, original screenshot (in Russian)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Functional Requirements</a:t>
            </a:r>
            <a:endParaRPr sz="2250" b="1">
              <a:solidFill>
                <a:srgbClr val="1E3A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1" name="Google Shape;241;p2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42" name="Google Shape;242;p20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43" name="Google Shape;243;p20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48056" y="1783080"/>
            <a:ext cx="1115568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43 functional and 14 non-functional requirements — from the dormitory rules and the survey.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/>
              <a:t>28 are in the MVP. All 28 are built and covered by tests: 21 of 21 Must, against a goal of 19.</a:t>
            </a:r>
          </a:p>
          <a:p>
            <a:pPr marL="0" lvl="0" indent="0" algn="l" rtl="0">
              <a:spcBef>
                <a:spcPts val="2600"/>
              </a:spcBef>
              <a:spcAft>
                <a:spcPts val="0"/>
              </a:spcAft>
              <a:buNone/>
            </a:pPr>
            <a:r>
              <a:rPr lang="en-US" sz="2400" b="1"/>
              <a:t>How priority is set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Required by the rules, or done by hand today → </a:t>
            </a:r>
            <a:r>
              <a:rPr lang="en-US" sz="2000" b="1"/>
              <a:t>Must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Needed by a Must requirement → </a:t>
            </a:r>
            <a:r>
              <a:rPr lang="en-US" sz="2000" b="1"/>
              <a:t>Must</a:t>
            </a:r>
          </a:p>
          <a:p>
            <a:pPr marL="342900" lvl="0" indent="-342900" algn="l" rtl="0">
              <a:spcBef>
                <a:spcPts val="8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000"/>
              <a:t>Otherwise a convenience → </a:t>
            </a:r>
            <a:r>
              <a:rPr lang="en-US" sz="2000" b="1"/>
              <a:t>Should</a:t>
            </a:r>
            <a:r>
              <a:rPr lang="en-US" sz="2000"/>
              <a:t> if a stakeholder or the survey asks for it, </a:t>
            </a:r>
            <a:r>
              <a:rPr lang="en-US" sz="2000" b="1"/>
              <a:t>Could</a:t>
            </a:r>
            <a:r>
              <a:rPr lang="en-US" sz="2000"/>
              <a:t> if nobody does</a:t>
            </a:r>
          </a:p>
          <a:p>
            <a:pPr marL="0" lvl="0" indent="0" algn="l" rtl="0">
              <a:spcBef>
                <a:spcPts val="2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5568"/>
                </a:solidFill>
              </a:rPr>
              <a:t>need → user story → requirement → acceptance criterion → test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Architecture of the System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53" name="Google Shape;253;p21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54" name="Google Shape;254;p21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288" y="1664208"/>
            <a:ext cx="11247120" cy="4979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Why a Modular Monolith: Four Options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19" name="Google Shape;219;p18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20" name="Google Shape;220;p1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18"/>
          <p:cNvGraphicFramePr/>
          <p:nvPr/>
        </p:nvGraphicFramePr>
        <p:xfrm>
          <a:off x="723748" y="1783080"/>
          <a:ext cx="10744200" cy="3009621"/>
        </p:xfrm>
        <a:graphic>
          <a:graphicData uri="http://schemas.openxmlformats.org/drawingml/2006/table">
            <a:tbl>
              <a:tblPr>
                <a:noFill/>
                <a:tableStyleId>{C2F9A53D-C8E2-47DD-9842-43F49D632BF1}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Option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What it gives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What it costs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Verdict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A. Layered monolith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Cheapest to build. Meets five of the six criteria.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 named place where the security post can connect later.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Close second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B. Modular monolith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 clear place where access control can connect later.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Module borders are a rule, not a mechanism. Cannot deploy one module alone.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Chosen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C. Service per module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Borders enforced by the network.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Too much for one developer in one term. Four databases for ~3 requests per second.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Rejected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D. Low-code platform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Least effort to build.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Runs on the vendor’s servers, not the university’s.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Rejected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3" name="Google Shape;903;added"/>
          <p:cNvSpPr txBox="1"/>
          <p:nvPr/>
        </p:nvSpPr>
        <p:spPr>
          <a:xfrm>
            <a:off x="632308" y="5180076"/>
            <a:ext cx="10927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Six criteria: </a:t>
            </a:r>
            <a:r>
              <a:rPr lang="en-US" sz="1500"/>
              <a:t>one developer and one term · budget and own server · about 3 requests per second · starts locally in containers · migrations and tests · a place to connect access control later.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1"/>
              <a:t>B wins only on the last one — a turnstile can be connected later without rebuilding the data model. A is cheaper today; B is chosen for that.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Rationale for the Technology Stack</a:t>
            </a:r>
            <a:endParaRPr sz="2250" b="1">
              <a:solidFill>
                <a:srgbClr val="1E3A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3" name="Google Shape;263;p2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64" name="Google Shape;264;p22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65" name="Google Shape;265;p22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26568" y="5285232"/>
            <a:ext cx="11338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Alternatives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/>
              <a:t>Django</a:t>
            </a:r>
            <a:r>
              <a:rPr lang="en-US" sz="1600"/>
              <a:t> — close to a tie. Laravel won on per-object access checks and on my experience.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/>
              <a:t>Spring Boot</a:t>
            </a:r>
            <a:r>
              <a:rPr lang="en-US" sz="1600"/>
              <a:t> — too much setup for one term.</a:t>
            </a:r>
          </a:p>
        </p:txBody>
      </p:sp>
      <p:graphicFrame>
        <p:nvGraphicFramePr>
          <p:cNvPr id="980" name="Google Shape;980;v3"/>
          <p:cNvGraphicFramePr/>
          <p:nvPr/>
        </p:nvGraphicFramePr>
        <p:xfrm>
          <a:off x="518008" y="1783080"/>
          <a:ext cx="11155680" cy="3320517"/>
        </p:xfrm>
        <a:graphic>
          <a:graphicData uri="http://schemas.openxmlformats.org/drawingml/2006/table">
            <a:tbl>
              <a:tblPr>
                <a:noFill/>
                <a:tableStyleId>{C2F9A53D-C8E2-47DD-9842-43F49D632BF1}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Layer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Choice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Why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Backend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Laravel 13, PHP 8.3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Access is checked per object: a manager of one building cannot open another. Queues and scheduler built in.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Database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PostgreSQL 17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The database itself refuses two residencies on one bed for the same dates.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Frontend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React 19, TypeScript, Vite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The most examples and answers online. At this size, a preference.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Runtime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Docker Compose, nginx, Redis, MinIO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Free software only; runs on the university’s own servers.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Delivery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GitHub Actions, GitLab CI, own server with HTTPS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Every push runs the tests; a green build reaches the server by itself — database backup, migrations, health check.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Live Demonstration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75" name="Google Shape;275;p23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76" name="Google Shape;276;p23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000" y="1979600"/>
            <a:ext cx="2898800" cy="28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added"/>
          <p:cNvSpPr txBox="1"/>
          <p:nvPr/>
        </p:nvSpPr>
        <p:spPr>
          <a:xfrm>
            <a:off x="1984248" y="49834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hlinkClick r:id="rId5"/>
              </a:rPr>
              <a:t>dorm.yanalyahya.com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/>
              <a:t>API reference: </a:t>
            </a:r>
            <a:r>
              <a:rPr lang="en-US" sz="1300">
                <a:hlinkClick r:id="rId6"/>
              </a:rPr>
              <a:t>dorm.yanalyahya.com/api/docs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/>
              <a:t>Redeployed on every push, over HTTPS. Generated data only.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Results and Further Work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86" name="Google Shape;286;p24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87" name="Google Shape;287;p24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48056" y="1783080"/>
            <a:ext cx="67208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Results</a:t>
            </a:r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600" b="1"/>
              <a:t>My own prediction was wrong. I expected guest visits to lead; residents put repair requests first — 20 of 26, against 18.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I wrote the prediction down before I saw the data.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Four everyday processes now leave a traceable record instead of paper.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28 of 28 MVP requirements · 461 tests · 404 commits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Eight acceptance passes. Every one found defects.</a:t>
            </a: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/>
              <a:t>Further Work</a:t>
            </a:r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1600"/>
              <a:t>Discuss a pilot with the dormitory management</a:t>
            </a: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1600"/>
              <a:t>Improve the design</a:t>
            </a:r>
          </a:p>
        </p:txBody>
      </p:sp>
      <p:sp>
        <p:nvSpPr>
          <p:cNvPr id="905" name="Google Shape;905;added"/>
          <p:cNvSpPr txBox="1"/>
          <p:nvPr/>
        </p:nvSpPr>
        <p:spPr>
          <a:xfrm>
            <a:off x="7315200" y="1783080"/>
            <a:ext cx="448056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Answers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/>
              <a:t>1.  </a:t>
            </a:r>
            <a:r>
              <a:rPr lang="en-US" sz="1600" i="1"/>
              <a:t>Same guest procedure everywhere?</a:t>
            </a:r>
          </a:p>
          <a:p>
            <a:pPr marL="32004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/>
              <a:t>Yes. Only the numbers differ — hours, notice time. So they are settings of a building.</a:t>
            </a:r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600"/>
              <a:t>2.  </a:t>
            </a:r>
            <a:r>
              <a:rPr lang="en-US" sz="1600" i="1"/>
              <a:t>What do HSE residents need most?</a:t>
            </a:r>
          </a:p>
          <a:p>
            <a:pPr marL="32004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/>
              <a:t>Repairs, not guests: 20 of 26 against 18.</a:t>
            </a:r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600"/>
              <a:t>3.  </a:t>
            </a:r>
            <a:r>
              <a:rPr lang="en-US" sz="1600" i="1"/>
              <a:t>Do existing systems cover the four tasks?</a:t>
            </a:r>
          </a:p>
          <a:p>
            <a:pPr marL="32004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/>
              <a:t>Not together. Lost property — nowhere.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/>
        </p:nvSpPr>
        <p:spPr>
          <a:xfrm>
            <a:off x="381000" y="1225950"/>
            <a:ext cx="115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References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20490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/>
              <a:t>Faculty of Computer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/>
          </a:p>
        </p:txBody>
      </p:sp>
      <p:sp>
        <p:nvSpPr>
          <p:cNvPr id="297" name="Google Shape;297;p25"/>
          <p:cNvSpPr txBox="1">
            <a:spLocks noGrp="1"/>
          </p:cNvSpPr>
          <p:nvPr>
            <p:ph type="body" idx="2"/>
          </p:nvPr>
        </p:nvSpPr>
        <p:spPr>
          <a:xfrm>
            <a:off x="3459162" y="548720"/>
            <a:ext cx="2472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1100" b="1"/>
          </a:p>
        </p:txBody>
      </p:sp>
      <p:sp>
        <p:nvSpPr>
          <p:cNvPr id="298" name="Google Shape;298;p25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lvl="0" indent="-304792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en-US" sz="1200"/>
              <a:t>Moscow, 2026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533400" y="1676400"/>
            <a:ext cx="4819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448056" y="1755648"/>
            <a:ext cx="1129284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[1] </a:t>
            </a:r>
            <a:r>
              <a:rPr lang="en-US" sz="1200"/>
              <a:t>Education in Figures: 2026. HSE ISSEK, Moscow, 2026. Sec. 7.6, p. 128. </a:t>
            </a:r>
            <a:r>
              <a:rPr lang="en-US" sz="1200">
                <a:hlinkClick r:id="rId4"/>
              </a:rPr>
              <a:t>hse.ru/mirror/pubs/share/1196008207.pdf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[2] </a:t>
            </a:r>
            <a:r>
              <a:rPr lang="en-US" sz="1200"/>
              <a:t>HSE University. Internal Rules of the Student Dormitory. </a:t>
            </a:r>
            <a:r>
              <a:rPr lang="en-US" sz="1200">
                <a:hlinkClick r:id="rId5"/>
              </a:rPr>
              <a:t>hse.ru/docs/1189956784.html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[3] </a:t>
            </a:r>
            <a:r>
              <a:rPr lang="en-US" sz="1200"/>
              <a:t>1C:University PROF — </a:t>
            </a:r>
            <a:r>
              <a:rPr lang="en-US" sz="1200">
                <a:hlinkClick r:id="rId6"/>
              </a:rPr>
              <a:t>solutions.1c.ru/catalog/university-prof/features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[4] </a:t>
            </a:r>
            <a:r>
              <a:rPr lang="en-US" sz="1200"/>
              <a:t>TANDEM.University — </a:t>
            </a:r>
            <a:r>
              <a:rPr lang="en-US" sz="1200">
                <a:hlinkClick r:id="rId7"/>
              </a:rPr>
              <a:t>tandemservice.ru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[5] </a:t>
            </a:r>
            <a:r>
              <a:rPr lang="en-US" sz="1200"/>
              <a:t>Sigur, visitor management — </a:t>
            </a:r>
            <a:r>
              <a:rPr lang="en-US" sz="1200">
                <a:hlinkClick r:id="rId8"/>
              </a:rPr>
              <a:t>sigur.com/features/visitor_management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[6] </a:t>
            </a:r>
            <a:r>
              <a:rPr lang="en-US" sz="1200"/>
              <a:t>StarRez Front Desk — </a:t>
            </a:r>
            <a:r>
              <a:rPr lang="en-US" sz="1200">
                <a:hlinkClick r:id="rId9"/>
              </a:rPr>
              <a:t>starrez.com/features/front-desk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[7] </a:t>
            </a:r>
            <a:r>
              <a:rPr lang="en-US" sz="1200"/>
              <a:t>ResLife Portal Visitor Logs — </a:t>
            </a:r>
            <a:r>
              <a:rPr lang="en-US" sz="1200">
                <a:hlinkClick r:id="rId10"/>
              </a:rPr>
              <a:t>reslifeportal.com/features/visitors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[8] </a:t>
            </a:r>
            <a:r>
              <a:rPr lang="en-US" sz="1200"/>
              <a:t>Laravel 13, Authorization — </a:t>
            </a:r>
            <a:r>
              <a:rPr lang="en-US" sz="1200">
                <a:hlinkClick r:id="rId11"/>
              </a:rPr>
              <a:t>laravel.com/docs/13.x/authorization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[9] </a:t>
            </a:r>
            <a:r>
              <a:rPr lang="en-US" sz="1200"/>
              <a:t>Django, User authentication — </a:t>
            </a:r>
            <a:r>
              <a:rPr lang="en-US" sz="1200">
                <a:hlinkClick r:id="rId12"/>
              </a:rPr>
              <a:t>docs.djangoproject.com/en/5.2/topics/auth/default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[10] </a:t>
            </a:r>
            <a:r>
              <a:rPr lang="en-US" sz="1200"/>
              <a:t>SharmikhaSree R., Meera S., Kavya K.K., Harina P. Dormitory Management System. ICCEBS, IEEE, 2023. </a:t>
            </a:r>
            <a:r>
              <a:rPr lang="en-US" sz="1200">
                <a:hlinkClick r:id="rId13"/>
              </a:rPr>
              <a:t>doi:10.1109/iccebs58601.2023.10449199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[11] </a:t>
            </a:r>
            <a:r>
              <a:rPr lang="en-US" sz="1200"/>
              <a:t>Yang Y., Chen S. Design and Implementation of College Dormitory Management System. ICERECT, IEEE, 2022. </a:t>
            </a:r>
            <a:r>
              <a:rPr lang="en-US" sz="1200">
                <a:hlinkClick r:id="rId14"/>
              </a:rPr>
              <a:t>doi:10.1109/icerect56837.2022.10059902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[12] </a:t>
            </a:r>
            <a:r>
              <a:rPr lang="en-US" sz="1200"/>
              <a:t>Kasastra A.R., Asroni A., Damarjati C. Design and Build of The UNIRES Student Dormitory Management System of UMY Integrated With The Campus System. EIST, 2023, 2(2). </a:t>
            </a:r>
            <a:r>
              <a:rPr lang="en-US" sz="1200">
                <a:hlinkClick r:id="rId15"/>
              </a:rPr>
              <a:t>doi:10.18196/eist.v2i2.16863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1"/>
              <a:t>[13] </a:t>
            </a:r>
            <a:r>
              <a:rPr lang="en-US" sz="1200"/>
              <a:t>Zhao Z., Wang B. Research on the Construction of Evaluation System of Student Dormitory Safety Management in Colleges and Universities Based on Artificial Neural Networks. ACM, 2024. </a:t>
            </a:r>
            <a:r>
              <a:rPr lang="en-US" sz="1200">
                <a:hlinkClick r:id="rId16"/>
              </a:rPr>
              <a:t>doi:10.1145/3724154.3724181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3624375" y="2016595"/>
            <a:ext cx="4943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your attention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781417" y="3565385"/>
            <a:ext cx="4629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Yanal Yahya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3781417" y="3984485"/>
            <a:ext cx="4629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Group МСПИН251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3790942" y="4403585"/>
            <a:ext cx="4610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18096"/>
                </a:solidFill>
              </a:rPr>
              <a:t>Supervisor</a:t>
            </a:r>
            <a:r>
              <a:rPr lang="en-US" sz="12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>
                <a:solidFill>
                  <a:srgbClr val="718096"/>
                </a:solidFill>
              </a:rPr>
              <a:t>Hadi Saleh</a:t>
            </a:r>
            <a:endParaRPr sz="1200">
              <a:solidFill>
                <a:srgbClr val="718096"/>
              </a:solidFill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1143689" y="540904"/>
            <a:ext cx="2048962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Faculty of Computer Science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3459162" y="548720"/>
            <a:ext cx="2472947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r>
              <a:rPr lang="en-US" sz="1200">
                <a:solidFill>
                  <a:srgbClr val="0F2C68"/>
                </a:solidFill>
              </a:rPr>
              <a:t>Course Work</a:t>
            </a:r>
            <a:endParaRPr sz="1200">
              <a:solidFill>
                <a:srgbClr val="0F2C68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1200">
              <a:solidFill>
                <a:srgbClr val="0F2C68"/>
              </a:solidFill>
            </a:endParaRPr>
          </a:p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1100" b="1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6259892" y="548720"/>
            <a:ext cx="3394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r>
              <a:rPr lang="en-US" sz="1200">
                <a:solidFill>
                  <a:srgbClr val="0E2D69"/>
                </a:solidFill>
              </a:rPr>
              <a:t>Moscow</a:t>
            </a:r>
            <a:r>
              <a:rPr lang="en-US"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sz="12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26"/>
          <p:cNvGrpSpPr/>
          <p:nvPr/>
        </p:nvGrpSpPr>
        <p:grpSpPr>
          <a:xfrm>
            <a:off x="4155825" y="4935160"/>
            <a:ext cx="4073652" cy="876300"/>
            <a:chOff x="4725915" y="4095750"/>
            <a:chExt cx="4073652" cy="876300"/>
          </a:xfrm>
        </p:grpSpPr>
        <p:sp>
          <p:nvSpPr>
            <p:cNvPr id="314" name="Google Shape;314;p26"/>
            <p:cNvSpPr/>
            <p:nvPr/>
          </p:nvSpPr>
          <p:spPr>
            <a:xfrm>
              <a:off x="4725915" y="4095750"/>
              <a:ext cx="4073652" cy="876300"/>
            </a:xfrm>
            <a:custGeom>
              <a:avLst/>
              <a:gdLst/>
              <a:ahLst/>
              <a:cxnLst/>
              <a:rect l="l" t="t" r="r" b="b"/>
              <a:pathLst>
                <a:path w="2743200" h="876300" extrusionOk="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800097"/>
                  </a:lnTo>
                  <a:cubicBezTo>
                    <a:pt x="2743200" y="842183"/>
                    <a:pt x="2709083" y="876300"/>
                    <a:pt x="26669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4992616" y="43910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 extrusionOk="0">
                  <a:moveTo>
                    <a:pt x="97055" y="221791"/>
                  </a:moveTo>
                  <a:cubicBezTo>
                    <a:pt x="97055" y="222907"/>
                    <a:pt x="95771" y="223800"/>
                    <a:pt x="94152" y="223800"/>
                  </a:cubicBezTo>
                  <a:cubicBezTo>
                    <a:pt x="92311" y="223968"/>
                    <a:pt x="91027" y="223075"/>
                    <a:pt x="91027" y="221791"/>
                  </a:cubicBezTo>
                  <a:cubicBezTo>
                    <a:pt x="91027" y="220675"/>
                    <a:pt x="92311" y="219782"/>
                    <a:pt x="93929" y="219782"/>
                  </a:cubicBezTo>
                  <a:cubicBezTo>
                    <a:pt x="95603" y="219615"/>
                    <a:pt x="97055" y="220507"/>
                    <a:pt x="97055" y="221791"/>
                  </a:cubicBezTo>
                  <a:close/>
                  <a:moveTo>
                    <a:pt x="79697" y="219280"/>
                  </a:moveTo>
                  <a:cubicBezTo>
                    <a:pt x="79307" y="220396"/>
                    <a:pt x="80423" y="221679"/>
                    <a:pt x="82097" y="222014"/>
                  </a:cubicBezTo>
                  <a:cubicBezTo>
                    <a:pt x="83548" y="222572"/>
                    <a:pt x="85223" y="222014"/>
                    <a:pt x="85558" y="220898"/>
                  </a:cubicBezTo>
                  <a:cubicBezTo>
                    <a:pt x="85892" y="219782"/>
                    <a:pt x="84832" y="218498"/>
                    <a:pt x="83158" y="217996"/>
                  </a:cubicBezTo>
                  <a:cubicBezTo>
                    <a:pt x="81707" y="217605"/>
                    <a:pt x="80088" y="218163"/>
                    <a:pt x="79697" y="219280"/>
                  </a:cubicBezTo>
                  <a:close/>
                  <a:moveTo>
                    <a:pt x="104366" y="218331"/>
                  </a:moveTo>
                  <a:cubicBezTo>
                    <a:pt x="102747" y="218722"/>
                    <a:pt x="101631" y="219782"/>
                    <a:pt x="101798" y="221066"/>
                  </a:cubicBezTo>
                  <a:cubicBezTo>
                    <a:pt x="101966" y="222182"/>
                    <a:pt x="103417" y="222907"/>
                    <a:pt x="105091" y="222517"/>
                  </a:cubicBezTo>
                  <a:cubicBezTo>
                    <a:pt x="106710" y="222126"/>
                    <a:pt x="107826" y="221066"/>
                    <a:pt x="107659" y="219949"/>
                  </a:cubicBezTo>
                  <a:cubicBezTo>
                    <a:pt x="107491" y="218889"/>
                    <a:pt x="105984" y="218163"/>
                    <a:pt x="104366" y="218331"/>
                  </a:cubicBezTo>
                  <a:close/>
                  <a:moveTo>
                    <a:pt x="141089" y="4465"/>
                  </a:moveTo>
                  <a:cubicBezTo>
                    <a:pt x="63680" y="4465"/>
                    <a:pt x="4465" y="63233"/>
                    <a:pt x="4465" y="140643"/>
                  </a:cubicBezTo>
                  <a:cubicBezTo>
                    <a:pt x="4465" y="202536"/>
                    <a:pt x="43421" y="255501"/>
                    <a:pt x="99064" y="274141"/>
                  </a:cubicBezTo>
                  <a:cubicBezTo>
                    <a:pt x="106207" y="275425"/>
                    <a:pt x="108719" y="271016"/>
                    <a:pt x="108719" y="267388"/>
                  </a:cubicBezTo>
                  <a:cubicBezTo>
                    <a:pt x="108719" y="263928"/>
                    <a:pt x="108552" y="244841"/>
                    <a:pt x="108552" y="233121"/>
                  </a:cubicBezTo>
                  <a:cubicBezTo>
                    <a:pt x="108552" y="233121"/>
                    <a:pt x="69484" y="241492"/>
                    <a:pt x="61280" y="216489"/>
                  </a:cubicBezTo>
                  <a:cubicBezTo>
                    <a:pt x="61280" y="216489"/>
                    <a:pt x="54918" y="200248"/>
                    <a:pt x="45765" y="196062"/>
                  </a:cubicBezTo>
                  <a:cubicBezTo>
                    <a:pt x="45765" y="196062"/>
                    <a:pt x="32984" y="187300"/>
                    <a:pt x="46658" y="187468"/>
                  </a:cubicBezTo>
                  <a:cubicBezTo>
                    <a:pt x="46658" y="187468"/>
                    <a:pt x="60554" y="188584"/>
                    <a:pt x="68200" y="201867"/>
                  </a:cubicBezTo>
                  <a:cubicBezTo>
                    <a:pt x="80423" y="223410"/>
                    <a:pt x="100905" y="217215"/>
                    <a:pt x="108886" y="213531"/>
                  </a:cubicBezTo>
                  <a:cubicBezTo>
                    <a:pt x="110170" y="204601"/>
                    <a:pt x="113798" y="198406"/>
                    <a:pt x="117816" y="194723"/>
                  </a:cubicBezTo>
                  <a:cubicBezTo>
                    <a:pt x="86618" y="191263"/>
                    <a:pt x="55141" y="186742"/>
                    <a:pt x="55141" y="133052"/>
                  </a:cubicBezTo>
                  <a:cubicBezTo>
                    <a:pt x="55141" y="117704"/>
                    <a:pt x="59382" y="110003"/>
                    <a:pt x="68312" y="100180"/>
                  </a:cubicBezTo>
                  <a:cubicBezTo>
                    <a:pt x="66861" y="96552"/>
                    <a:pt x="62117" y="81595"/>
                    <a:pt x="69763" y="62285"/>
                  </a:cubicBezTo>
                  <a:cubicBezTo>
                    <a:pt x="81428" y="58657"/>
                    <a:pt x="108272" y="77353"/>
                    <a:pt x="108272" y="77353"/>
                  </a:cubicBezTo>
                  <a:cubicBezTo>
                    <a:pt x="119435" y="74228"/>
                    <a:pt x="131434" y="72610"/>
                    <a:pt x="143321" y="72610"/>
                  </a:cubicBezTo>
                  <a:cubicBezTo>
                    <a:pt x="155209" y="72610"/>
                    <a:pt x="167208" y="74228"/>
                    <a:pt x="178371" y="77353"/>
                  </a:cubicBezTo>
                  <a:cubicBezTo>
                    <a:pt x="178371" y="77353"/>
                    <a:pt x="205215" y="58601"/>
                    <a:pt x="216880" y="62285"/>
                  </a:cubicBezTo>
                  <a:cubicBezTo>
                    <a:pt x="224526" y="81651"/>
                    <a:pt x="219782" y="96552"/>
                    <a:pt x="218331" y="100180"/>
                  </a:cubicBezTo>
                  <a:cubicBezTo>
                    <a:pt x="227261" y="110058"/>
                    <a:pt x="232730" y="117760"/>
                    <a:pt x="232730" y="133052"/>
                  </a:cubicBezTo>
                  <a:cubicBezTo>
                    <a:pt x="232730" y="186910"/>
                    <a:pt x="199858" y="191207"/>
                    <a:pt x="168659" y="194723"/>
                  </a:cubicBezTo>
                  <a:cubicBezTo>
                    <a:pt x="173794" y="199132"/>
                    <a:pt x="178147" y="207504"/>
                    <a:pt x="178147" y="220619"/>
                  </a:cubicBezTo>
                  <a:cubicBezTo>
                    <a:pt x="178147" y="239427"/>
                    <a:pt x="177980" y="262700"/>
                    <a:pt x="177980" y="267277"/>
                  </a:cubicBezTo>
                  <a:cubicBezTo>
                    <a:pt x="177980" y="270904"/>
                    <a:pt x="180547" y="275313"/>
                    <a:pt x="187635" y="274030"/>
                  </a:cubicBezTo>
                  <a:cubicBezTo>
                    <a:pt x="243446" y="255501"/>
                    <a:pt x="281285" y="202536"/>
                    <a:pt x="281285" y="140643"/>
                  </a:cubicBezTo>
                  <a:cubicBezTo>
                    <a:pt x="281285" y="63233"/>
                    <a:pt x="218498" y="4465"/>
                    <a:pt x="141089" y="4465"/>
                  </a:cubicBezTo>
                  <a:close/>
                  <a:moveTo>
                    <a:pt x="58713" y="196955"/>
                  </a:moveTo>
                  <a:cubicBezTo>
                    <a:pt x="57987" y="197514"/>
                    <a:pt x="58155" y="198797"/>
                    <a:pt x="59103" y="199858"/>
                  </a:cubicBezTo>
                  <a:cubicBezTo>
                    <a:pt x="59996" y="200751"/>
                    <a:pt x="61280" y="201141"/>
                    <a:pt x="62006" y="200416"/>
                  </a:cubicBezTo>
                  <a:cubicBezTo>
                    <a:pt x="62731" y="199858"/>
                    <a:pt x="62564" y="198574"/>
                    <a:pt x="61615" y="197514"/>
                  </a:cubicBezTo>
                  <a:cubicBezTo>
                    <a:pt x="60722" y="196621"/>
                    <a:pt x="59438" y="196230"/>
                    <a:pt x="58713" y="196955"/>
                  </a:cubicBezTo>
                  <a:close/>
                  <a:moveTo>
                    <a:pt x="52685" y="192435"/>
                  </a:moveTo>
                  <a:cubicBezTo>
                    <a:pt x="52294" y="193160"/>
                    <a:pt x="52853" y="194053"/>
                    <a:pt x="53969" y="194611"/>
                  </a:cubicBezTo>
                  <a:cubicBezTo>
                    <a:pt x="54862" y="195169"/>
                    <a:pt x="55978" y="195002"/>
                    <a:pt x="56369" y="194221"/>
                  </a:cubicBezTo>
                  <a:cubicBezTo>
                    <a:pt x="56759" y="193495"/>
                    <a:pt x="56201" y="192602"/>
                    <a:pt x="55085" y="192044"/>
                  </a:cubicBezTo>
                  <a:cubicBezTo>
                    <a:pt x="53969" y="191709"/>
                    <a:pt x="53076" y="191877"/>
                    <a:pt x="52685" y="192435"/>
                  </a:cubicBezTo>
                  <a:close/>
                  <a:moveTo>
                    <a:pt x="70768" y="212303"/>
                  </a:moveTo>
                  <a:cubicBezTo>
                    <a:pt x="69875" y="213029"/>
                    <a:pt x="70210" y="214703"/>
                    <a:pt x="71493" y="215764"/>
                  </a:cubicBezTo>
                  <a:cubicBezTo>
                    <a:pt x="72777" y="217047"/>
                    <a:pt x="74395" y="217215"/>
                    <a:pt x="75121" y="216322"/>
                  </a:cubicBezTo>
                  <a:cubicBezTo>
                    <a:pt x="75847" y="215596"/>
                    <a:pt x="75512" y="213922"/>
                    <a:pt x="74395" y="212861"/>
                  </a:cubicBezTo>
                  <a:cubicBezTo>
                    <a:pt x="73168" y="211578"/>
                    <a:pt x="71493" y="211410"/>
                    <a:pt x="70768" y="212303"/>
                  </a:cubicBezTo>
                  <a:close/>
                  <a:moveTo>
                    <a:pt x="64405" y="204099"/>
                  </a:moveTo>
                  <a:cubicBezTo>
                    <a:pt x="63512" y="204657"/>
                    <a:pt x="63512" y="206108"/>
                    <a:pt x="64405" y="207392"/>
                  </a:cubicBezTo>
                  <a:cubicBezTo>
                    <a:pt x="65298" y="208676"/>
                    <a:pt x="66805" y="209234"/>
                    <a:pt x="67531" y="208676"/>
                  </a:cubicBezTo>
                  <a:cubicBezTo>
                    <a:pt x="68424" y="207950"/>
                    <a:pt x="68424" y="206499"/>
                    <a:pt x="67531" y="205215"/>
                  </a:cubicBezTo>
                  <a:cubicBezTo>
                    <a:pt x="66749" y="203932"/>
                    <a:pt x="65298" y="203374"/>
                    <a:pt x="64405" y="204099"/>
                  </a:cubicBezTo>
                  <a:close/>
                </a:path>
              </a:pathLst>
            </a:custGeom>
            <a:solidFill>
              <a:srgbClr val="1E3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5464103" y="4324350"/>
              <a:ext cx="1838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718096"/>
                  </a:solidFill>
                </a:rPr>
                <a:t>Project repository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5464115" y="4514850"/>
              <a:ext cx="3240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u="sng">
                  <a:solidFill>
                    <a:schemeClr val="hlink"/>
                  </a:solidFill>
                  <a:hlinkClick r:id="rId4"/>
                </a:rPr>
                <a:t>https://github.com/yyahya-2000/DormHub</a:t>
              </a:r>
              <a:r>
                <a:rPr lang="en-US" sz="1200" b="1">
                  <a:solidFill>
                    <a:srgbClr val="2D3748"/>
                  </a:solidFill>
                </a:rPr>
                <a:t> 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6" name="Google Shape;906;added"/>
          <p:cNvSpPr txBox="1"/>
          <p:nvPr/>
        </p:nvSpPr>
        <p:spPr>
          <a:xfrm>
            <a:off x="1527048" y="58521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GitLab FCS: </a:t>
            </a:r>
            <a:r>
              <a:rPr lang="en-US" sz="1300">
                <a:hlinkClick r:id="rId5"/>
              </a:rPr>
              <a:t>git.cs.hse.ru/edu/sse/2025_26/term-papers/Yanal-Yahya-yyahya</a:t>
            </a:r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/>
              <a:t>Live system: </a:t>
            </a:r>
            <a:r>
              <a:rPr lang="en-US" sz="1300">
                <a:hlinkClick r:id="rId6"/>
              </a:rPr>
              <a:t>dorm.yanalyahya.com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4730</Words>
  <Application>Microsoft Macintosh PowerPoint</Application>
  <PresentationFormat>Widescreen</PresentationFormat>
  <Paragraphs>409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Noto Sans SC</vt:lpstr>
      <vt:lpstr>Office Theme</vt:lpstr>
      <vt:lpstr>System for Supporting  Student Activities  in Dormitories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yyakhya</cp:lastModifiedBy>
  <cp:revision>2</cp:revision>
  <dcterms:modified xsi:type="dcterms:W3CDTF">2026-10-01T18:31:13Z</dcterms:modified>
</cp:coreProperties>
</file>